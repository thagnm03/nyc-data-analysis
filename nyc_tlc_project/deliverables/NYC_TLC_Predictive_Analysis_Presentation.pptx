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3bd9e764cf4d9b" /><Relationship Type="http://schemas.openxmlformats.org/officeDocument/2006/relationships/extended-properties" Target="/docProps/app.xml" Id="R9e73b39ee3d3490e" /><Relationship Type="http://schemas.openxmlformats.org/officeDocument/2006/relationships/officeDocument" Target="/ppt/presentation.xml" Id="R74a7f633cfd946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2337e68e45473c"/>
  </p:sldMasterIdLst>
  <p:notesMasterIdLst>
    <p:notesMasterId xmlns:r="http://schemas.openxmlformats.org/officeDocument/2006/relationships" r:id="R9c11b6570fe546a4"/>
  </p:notesMasterIdLst>
  <p:sldIdLst>
    <p:sldId xmlns:r="http://schemas.openxmlformats.org/officeDocument/2006/relationships" id="256" r:id="Rf47e421154cb4d8c"/>
    <p:sldId xmlns:r="http://schemas.openxmlformats.org/officeDocument/2006/relationships" id="257" r:id="Ra6ba7a326a974d9d"/>
    <p:sldId xmlns:r="http://schemas.openxmlformats.org/officeDocument/2006/relationships" id="258" r:id="R42510e5218a54500"/>
    <p:sldId xmlns:r="http://schemas.openxmlformats.org/officeDocument/2006/relationships" id="259" r:id="Reda80a81cb3c49b5"/>
    <p:sldId xmlns:r="http://schemas.openxmlformats.org/officeDocument/2006/relationships" id="260" r:id="Re18782bffdb14d9d"/>
    <p:sldId xmlns:r="http://schemas.openxmlformats.org/officeDocument/2006/relationships" id="261" r:id="Rf0f0adb1a94a43e6"/>
    <p:sldId xmlns:r="http://schemas.openxmlformats.org/officeDocument/2006/relationships" id="262" r:id="Rd866ecf9ccd449ab"/>
    <p:sldId xmlns:r="http://schemas.openxmlformats.org/officeDocument/2006/relationships" id="263" r:id="Re4f84bb2a37d4037"/>
    <p:sldId xmlns:r="http://schemas.openxmlformats.org/officeDocument/2006/relationships" id="264" r:id="R4ef07fc3d1694851"/>
    <p:sldId xmlns:r="http://schemas.openxmlformats.org/officeDocument/2006/relationships" id="265" r:id="Re357e2cb21fb4688"/>
    <p:sldId xmlns:r="http://schemas.openxmlformats.org/officeDocument/2006/relationships" id="266" r:id="Red924e215db54171"/>
    <p:sldId xmlns:r="http://schemas.openxmlformats.org/officeDocument/2006/relationships" id="267" r:id="R985eea4899b843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52b6601fe54433" /><Relationship Type="http://schemas.openxmlformats.org/officeDocument/2006/relationships/slideMaster" Target="/ppt/slideMasters/slideMaster1.xml" Id="Raf2337e68e45473c" /><Relationship Type="http://schemas.openxmlformats.org/officeDocument/2006/relationships/notesMaster" Target="/ppt/notesMasters/notesMaster1.xml" Id="R9c11b6570fe546a4" /><Relationship Type="http://schemas.openxmlformats.org/officeDocument/2006/relationships/presProps" Target="/ppt/presProps.xml" Id="Re47bae5d41f544f1" /><Relationship Type="http://schemas.openxmlformats.org/officeDocument/2006/relationships/tableStyles" Target="/ppt/tableStyles.xml" Id="R7d52845203ce42b4" /><Relationship Type="http://schemas.openxmlformats.org/officeDocument/2006/relationships/slide" Target="/ppt/slides/slide1.xml" Id="Rf47e421154cb4d8c" /><Relationship Type="http://schemas.openxmlformats.org/officeDocument/2006/relationships/slide" Target="/ppt/slides/slide2.xml" Id="Ra6ba7a326a974d9d" /><Relationship Type="http://schemas.openxmlformats.org/officeDocument/2006/relationships/slide" Target="/ppt/slides/slide3.xml" Id="R42510e5218a54500" /><Relationship Type="http://schemas.openxmlformats.org/officeDocument/2006/relationships/slide" Target="/ppt/slides/slide4.xml" Id="Reda80a81cb3c49b5" /><Relationship Type="http://schemas.openxmlformats.org/officeDocument/2006/relationships/slide" Target="/ppt/slides/slide5.xml" Id="Re18782bffdb14d9d" /><Relationship Type="http://schemas.openxmlformats.org/officeDocument/2006/relationships/slide" Target="/ppt/slides/slide6.xml" Id="Rf0f0adb1a94a43e6" /><Relationship Type="http://schemas.openxmlformats.org/officeDocument/2006/relationships/slide" Target="/ppt/slides/slide7.xml" Id="Rd866ecf9ccd449ab" /><Relationship Type="http://schemas.openxmlformats.org/officeDocument/2006/relationships/slide" Target="/ppt/slides/slide8.xml" Id="Re4f84bb2a37d4037" /><Relationship Type="http://schemas.openxmlformats.org/officeDocument/2006/relationships/slide" Target="/ppt/slides/slide9.xml" Id="R4ef07fc3d1694851" /><Relationship Type="http://schemas.openxmlformats.org/officeDocument/2006/relationships/slide" Target="/ppt/slides/slide10.xml" Id="Re357e2cb21fb4688" /><Relationship Type="http://schemas.openxmlformats.org/officeDocument/2006/relationships/slide" Target="/ppt/slides/slide11.xml" Id="Red924e215db54171" /><Relationship Type="http://schemas.openxmlformats.org/officeDocument/2006/relationships/slide" Target="/ppt/slides/slide12.xml" Id="R985eea4899b843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f715924d64b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2f5d882e248c4" /><Relationship Type="http://schemas.openxmlformats.org/officeDocument/2006/relationships/notesMaster" Target="/ppt/notesMasters/notesMaster1.xml" Id="R902c8301c34a4f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292d1048d04063" /><Relationship Type="http://schemas.openxmlformats.org/officeDocument/2006/relationships/notesMaster" Target="/ppt/notesMasters/notesMaster1.xml" Id="Rb6432e5b490a4f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d97380f9154adf" /><Relationship Type="http://schemas.openxmlformats.org/officeDocument/2006/relationships/notesMaster" Target="/ppt/notesMasters/notesMaster1.xml" Id="R9e6703665f4b48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6addb7d7f84c71" /><Relationship Type="http://schemas.openxmlformats.org/officeDocument/2006/relationships/notesMaster" Target="/ppt/notesMasters/notesMaster1.xml" Id="Rcc740598225a4b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3c77ff291148cb" /><Relationship Type="http://schemas.openxmlformats.org/officeDocument/2006/relationships/notesMaster" Target="/ppt/notesMasters/notesMaster1.xml" Id="R91b98885f51c4e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934072ef404051" /><Relationship Type="http://schemas.openxmlformats.org/officeDocument/2006/relationships/notesMaster" Target="/ppt/notesMasters/notesMaster1.xml" Id="Rd4aceed2500f41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c6f1cbedf34861" /><Relationship Type="http://schemas.openxmlformats.org/officeDocument/2006/relationships/notesMaster" Target="/ppt/notesMasters/notesMaster1.xml" Id="R7ff7e9dcf95d4d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103358bb4b426b" /><Relationship Type="http://schemas.openxmlformats.org/officeDocument/2006/relationships/notesMaster" Target="/ppt/notesMasters/notesMaster1.xml" Id="R2b7b4862c80a4d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8173b2738f448a" /><Relationship Type="http://schemas.openxmlformats.org/officeDocument/2006/relationships/notesMaster" Target="/ppt/notesMasters/notesMaster1.xml" Id="R2bcea30e9c5d47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d029d06c2a4cbc" /><Relationship Type="http://schemas.openxmlformats.org/officeDocument/2006/relationships/notesMaster" Target="/ppt/notesMasters/notesMaster1.xml" Id="Rbdf0568621584a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d5bc09fd0f4a7b" /><Relationship Type="http://schemas.openxmlformats.org/officeDocument/2006/relationships/notesMaster" Target="/ppt/notesMasters/notesMaster1.xml" Id="R864101926a2842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88f2b078694879" /><Relationship Type="http://schemas.openxmlformats.org/officeDocument/2006/relationships/notesMaster" Target="/ppt/notesMasters/notesMaster1.xml" Id="R224a0fef2b5141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45 giây.</a:t>
            </a:r>
          </a:p>
          <a:p xmlns:a="http://schemas.openxmlformats.org/drawingml/2006/main">
            <a:r>
              <a:t>Mở đầu bằng câu hỏi: lịch sử theo zone và thời điểm có dự báo được lượt đón taxi trong block kế tiếp hay không?</a:t>
            </a:r>
          </a:p>
          <a:p xmlns:a="http://schemas.openxmlformats.org/drawingml/2006/main">
            <a:r>
              <a:t>Nhấn mạnh đây là realized pickup volume. Đồ án không đo toàn bộ nhu cầu tiềm ẩn của hành khách.</a:t>
            </a:r>
          </a:p>
          <a:p xmlns:a="http://schemas.openxmlformats.org/drawingml/2006/main">
            <a:r>
              <a:t>Nguồn dữ liệu: NYC TLC Trip Record Data, https://www.nyc.gov/site/tlc/about/tlc-trip-record-data.page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phút.</a:t>
            </a:r>
          </a:p>
          <a:p xmlns:a="http://schemas.openxmlformats.org/drawingml/2006/main">
            <a:r>
              <a:t>Giải thích rõ grain trước khi nói về model. Một dòng sau aggregation là một zone trong một block 4 giờ.</a:t>
            </a:r>
          </a:p>
          <a:p xmlns:a="http://schemas.openxmlformats.org/drawingml/2006/main">
            <a:r>
              <a:t>Target là số pickup records hợp lệ. Không diễn giải thành nhu cầu chưa được phục vụ.</a:t>
            </a:r>
          </a:p>
          <a:p xmlns:a="http://schemas.openxmlformats.org/drawingml/2006/main">
            <a:r>
              <a:t>Nguồn: PROJECT_BRIEF.md và config/modeling_config.json.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phút.</a:t>
            </a:r>
          </a:p>
          <a:p xmlns:a="http://schemas.openxmlformats.org/drawingml/2006/main">
            <a:r>
              <a:t>Phân biệt raw grain và modeling grain. Raw là một completed trip; panel là một zone–block.</a:t>
            </a:r>
          </a:p>
          <a:p xmlns:a="http://schemas.openxmlformats.org/drawingml/2006/main">
            <a:r>
              <a:t>Development và final test tách theo thời gian. Final test không tham gia model selection.</a:t>
            </a:r>
          </a:p>
          <a:p xmlns:a="http://schemas.openxmlformats.org/drawingml/2006/main">
            <a:r>
              <a:t>Nguồn: data/raw/manifest.json, outputs/panel/panel_build_summary.json, outputs/final_test_build/final_build_summary.json.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phút.</a:t>
            </a:r>
          </a:p>
          <a:p xmlns:a="http://schemas.openxmlformats.org/drawingml/2006/main">
            <a:r>
              <a:t>Điểm quan trọng là cleaning phụ thuộc target. Fare âm có thể cần xử lý nếu dự báo doanh thu, nhưng không đủ lý do xóa một pickup record ở bài toán này.</a:t>
            </a:r>
          </a:p>
          <a:p xmlns:a="http://schemas.openxmlformats.org/drawingml/2006/main">
            <a:r>
              <a:t>Năm duplicate bị loại. Bucket 264 và 265 không phải geographic taxi zones.</a:t>
            </a:r>
          </a:p>
          <a:p xmlns:a="http://schemas.openxmlformats.org/drawingml/2006/main">
            <a:r>
              <a:t>Nguồn: outputs/audit/audit_summary.json và CLEANING_LOG.md.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 15 giây.</a:t>
            </a:r>
          </a:p>
          <a:p xmlns:a="http://schemas.openxmlformats.org/drawingml/2006/main">
            <a:r>
              <a:t>Heatmap cho thấy hình dạng thời gian trong tuần rất ổn định giữa hai năm, dù level năm 2025 cao hơn.</a:t>
            </a:r>
          </a:p>
          <a:p xmlns:a="http://schemas.openxmlformats.org/drawingml/2006/main">
            <a:r>
              <a:t>Con số 0,918 đã center trong zone nên giảm ảnh hưởng của việc zone lớn luôn lớn hơn zone nhỏ.</a:t>
            </a:r>
          </a:p>
          <a:p xmlns:a="http://schemas.openxmlformats.org/drawingml/2006/main">
            <a:r>
              <a:t>Top 20 zones chiếm 60,01% volume, vì vậy aggregate metric cần đi cùng segment analysis.</a:t>
            </a:r>
          </a:p>
          <a:p xmlns:a="http://schemas.openxmlformats.org/drawingml/2006/main">
            <a:r>
              <a:t>Nguồn: outputs/eda/eda_summary.json và outputs/eda/figures/time_of_week_heatmaps.png.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phút.</a:t>
            </a:r>
          </a:p>
          <a:p xmlns:a="http://schemas.openxmlformats.org/drawingml/2006/main">
            <a:r>
              <a:t>Random split sẽ cho training nhìn thấy tương lai của validation và làm kết quả quá lạc quan.</a:t>
            </a:r>
          </a:p>
          <a:p xmlns:a="http://schemas.openxmlformats.org/drawingml/2006/main">
            <a:r>
              <a:t>Expanding window mô phỏng việc học từ lịch sử rồi dự báo quý tiếp theo.</a:t>
            </a:r>
          </a:p>
          <a:p xmlns:a="http://schemas.openxmlformats.org/drawingml/2006/main">
            <a:r>
              <a:t>Ridge alpha được chọn bằng bốn development folds. Final test không tham gia.</a:t>
            </a:r>
          </a:p>
          <a:p xmlns:a="http://schemas.openxmlformats.org/drawingml/2006/main">
            <a:r>
              <a:t>Nguồn: outputs/modeling_spec/validation_folds.csv và outputs/modeling_spec/modeling_spec_verification.json.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 15 giây.</a:t>
            </a:r>
          </a:p>
          <a:p xmlns:a="http://schemas.openxmlformats.org/drawingml/2006/main">
            <a:r>
              <a:t>Four-week seasonal mean có MAE thấp nhất. Ridge đứng thứ hai về MAE và tốt nhất về RMSE.</a:t>
            </a:r>
          </a:p>
          <a:p xmlns:a="http://schemas.openxmlformats.org/drawingml/2006/main">
            <a:r>
              <a:t>Không dùng R² để chọn model một mình. Cả baseline và regression đều hưởng lợi từ persistence mạnh.</a:t>
            </a:r>
          </a:p>
          <a:p xmlns:a="http://schemas.openxmlformats.org/drawingml/2006/main">
            <a:r>
              <a:t>Previous-week là primary baseline và formal fallback theo protocol đã khóa.</a:t>
            </a:r>
          </a:p>
          <a:p xmlns:a="http://schemas.openxmlformats.org/drawingml/2006/main">
            <a:r>
              <a:t>Nguồn: outputs/modeling/mean_fold_metrics.csv.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 15 giây.</a:t>
            </a:r>
          </a:p>
          <a:p xmlns:a="http://schemas.openxmlformats.org/drawingml/2006/main">
            <a:r>
              <a:t>Đây là lý do Ridge không được chọn dù aggregate MAE tốt hơn.</a:t>
            </a:r>
          </a:p>
          <a:p xmlns:a="http://schemas.openxmlformats.org/drawingml/2006/main">
            <a:r>
              <a:t>High tier chiếm gần toàn bộ pickup volume nên cải thiện tại đây kéo metric chung xuống.</a:t>
            </a:r>
          </a:p>
          <a:p xmlns:a="http://schemas.openxmlformats.org/drawingml/2006/main">
            <a:r>
              <a:t>Low tier có nhiều zero targets. Ridge dự báo dương thường xuyên hơn và tạo sai số.</a:t>
            </a:r>
          </a:p>
          <a:p xmlns:a="http://schemas.openxmlformats.org/drawingml/2006/main">
            <a:r>
              <a:t>Nguồn: outputs/modeling/mean_segment_metrics.csv và STEP_07_REPORT.md.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phút.</a:t>
            </a:r>
          </a:p>
          <a:p xmlns:a="http://schemas.openxmlformats.org/drawingml/2006/main">
            <a:r>
              <a:t>Nói rõ sự khác nhau giữa formal selection và empirical winner.</a:t>
            </a:r>
          </a:p>
          <a:p xmlns:a="http://schemas.openxmlformats.org/drawingml/2006/main">
            <a:r>
              <a:t>Previous-week được chọn vì không regression nào vượt toàn bộ rule đã khóa. Four-week mean có MAE thấp nhất nhưng protocol không định nghĩa thay fallback bằng baseline phụ.</a:t>
            </a:r>
          </a:p>
          <a:p xmlns:a="http://schemas.openxmlformats.org/drawingml/2006/main">
            <a:r>
              <a:t>Đây là hạn chế thiết kế nghiên cứu. Không sửa rule sau khi biết người thắng.</a:t>
            </a:r>
          </a:p>
          <a:p xmlns:a="http://schemas.openxmlformats.org/drawingml/2006/main">
            <a:r>
              <a:t>Nguồn: outputs/modeling/model_selection.json và outputs/modeling/model_selection_candidates.csv.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 15 giây.</a:t>
            </a:r>
          </a:p>
          <a:p xmlns:a="http://schemas.openxmlformats.org/drawingml/2006/main">
            <a:r>
              <a:t>Final test gồm 236.466 zone–blocks và 18.969.497 pickups từ tháng 1 đến tháng 5 năm 2026.</a:t>
            </a:r>
          </a:p>
          <a:p xmlns:a="http://schemas.openxmlformats.org/drawingml/2006/main">
            <a:r>
              <a:t>Formal previous-week đạt MAE 16,22. Ridge có MAE thấp hơn nhưng test không được dùng để chọn lại phương pháp.</a:t>
            </a:r>
          </a:p>
          <a:p xmlns:a="http://schemas.openxmlformats.org/drawingml/2006/main">
            <a:r>
              <a:t>Final MAE của previous-week thấp hơn development mean khoảng 1,06%, nên chưa thấy suy giảm tổng thể rõ.</a:t>
            </a:r>
          </a:p>
          <a:p xmlns:a="http://schemas.openxmlformats.org/drawingml/2006/main">
            <a:r>
              <a:t>Nguồn: outputs/final_evaluation/final_metrics.csv và outputs/final_evaluation/frozen_decision.json.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 15 giây.</a:t>
            </a:r>
          </a:p>
          <a:p xmlns:a="http://schemas.openxmlformats.org/drawingml/2006/main">
            <a:r>
              <a:t>Ridge tốt nhất trong tháng 1; four-week mean tốt nhất trong tháng 2 đến tháng 5.</a:t>
            </a:r>
          </a:p>
          <a:p xmlns:a="http://schemas.openxmlformats.org/drawingml/2006/main">
            <a:r>
              <a:t>Ngày 2 tháng 3 có actual 113.243 nhưng previous-week aggregate chỉ 26.000.</a:t>
            </a:r>
          </a:p>
          <a:p xmlns:a="http://schemas.openxmlformats.org/drawingml/2006/main">
            <a:r>
              <a:t>Các cặp ngày 1/1 với 8/1 và 23/2 với 2/3 minh họa cơ chế shock propagation. Không gắn nguyên nhân sự kiện khi chưa có event data.</a:t>
            </a:r>
          </a:p>
          <a:p xmlns:a="http://schemas.openxmlformats.org/drawingml/2006/main">
            <a:r>
              <a:t>Nguồn: outputs/final_evaluation/final_segment_metrics.csv và final_worst_days.csv.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 phút, sau đó mời câu hỏi.</a:t>
            </a:r>
          </a:p>
          <a:p xmlns:a="http://schemas.openxmlformats.org/drawingml/2006/main">
            <a:r>
              <a:t>Kết luận trọng tâm: dự báo được realized pickup volume, nhưng mô hình phức tạp không tạo giá trị đồng đều.</a:t>
            </a:r>
          </a:p>
          <a:p xmlns:a="http://schemas.openxmlformats.org/drawingml/2006/main">
            <a:r>
              <a:t>Nêu thẳng giới hạn public release delay và giới hạn diễn giải target.</a:t>
            </a:r>
          </a:p>
          <a:p xmlns:a="http://schemas.openxmlformats.org/drawingml/2006/main">
            <a:r>
              <a:t>Hướng nghiên cứu mới có thể thử hurdle model cho zero-heavy zones, thêm dữ liệu event/weather và khóa một final period mới.</a:t>
            </a:r>
          </a:p>
          <a:p xmlns:a="http://schemas.openxmlformats.org/drawingml/2006/main">
            <a:r>
              <a:t>Nguồn: FINAL_REPORT.md và outputs/final_evaluation/final_evaluation_summary.json.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fb1c356cf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2350ad43dd48ba" /><Relationship Type="http://schemas.openxmlformats.org/officeDocument/2006/relationships/slideLayout" Target="/ppt/slideLayouts/slideLayout1.xml" Id="Rc54a5c3d128249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4a5c3d128249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2e059cc5549d6" /><Relationship Type="http://schemas.openxmlformats.org/officeDocument/2006/relationships/notesSlide" Target="/ppt/notesSlides/notesSlide1.xml" Id="R357ee0dd812a47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7108073f54727" /><Relationship Type="http://schemas.openxmlformats.org/officeDocument/2006/relationships/notesSlide" Target="/ppt/notesSlides/notesSlide2.xml" Id="R756d073100fa41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deb35171c4558" /><Relationship Type="http://schemas.openxmlformats.org/officeDocument/2006/relationships/notesSlide" Target="/ppt/notesSlides/notesSlide3.xml" Id="R828a620cb76547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bdf813fd6431f" /><Relationship Type="http://schemas.openxmlformats.org/officeDocument/2006/relationships/notesSlide" Target="/ppt/notesSlides/notesSlide4.xml" Id="R7b9def5002f04f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9f5ae89c641ad" /><Relationship Type="http://schemas.openxmlformats.org/officeDocument/2006/relationships/image" Target="/ppt/media/image.png" Id="Rf52ec560bdb144c5" /><Relationship Type="http://schemas.openxmlformats.org/officeDocument/2006/relationships/notesSlide" Target="/ppt/notesSlides/notesSlide5.xml" Id="Ree86fc39f1fa48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e5e4815a64ef5" /><Relationship Type="http://schemas.openxmlformats.org/officeDocument/2006/relationships/notesSlide" Target="/ppt/notesSlides/notesSlide6.xml" Id="Re5757da7712040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a21fe7eaf4889" /><Relationship Type="http://schemas.openxmlformats.org/officeDocument/2006/relationships/chart" Target="/ppt/slides/charts/chart1.xml" Id="R6d06ad79dcef4f9c" /><Relationship Type="http://schemas.openxmlformats.org/officeDocument/2006/relationships/notesSlide" Target="/ppt/notesSlides/notesSlide7.xml" Id="Ra5012c358a5a4f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d94ce33b45dc" /><Relationship Type="http://schemas.openxmlformats.org/officeDocument/2006/relationships/chart" Target="/ppt/slides/charts/chart2.xml" Id="R5a5b658a475f4dc0" /><Relationship Type="http://schemas.openxmlformats.org/officeDocument/2006/relationships/notesSlide" Target="/ppt/notesSlides/notesSlide8.xml" Id="R161508c72c3648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1971bb5f04c1c" /><Relationship Type="http://schemas.openxmlformats.org/officeDocument/2006/relationships/notesSlide" Target="/ppt/notesSlides/notesSlide9.xml" Id="R5af12d561b28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e4e51c585451b" /><Relationship Type="http://schemas.openxmlformats.org/officeDocument/2006/relationships/chart" Target="/ppt/slides/charts/chart3.xml" Id="Ra7d230bc60e745da" /><Relationship Type="http://schemas.openxmlformats.org/officeDocument/2006/relationships/notesSlide" Target="/ppt/notesSlides/notesSlide10.xml" Id="R19f03624ec9b45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d9f610e014e27" /><Relationship Type="http://schemas.openxmlformats.org/officeDocument/2006/relationships/chart" Target="/ppt/slides/charts/chart4.xml" Id="R109b921d4abf43a0" /><Relationship Type="http://schemas.openxmlformats.org/officeDocument/2006/relationships/notesSlide" Target="/ppt/notesSlides/notesSlide11.xml" Id="R2c4f03760f224f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ae184922348b5" /><Relationship Type="http://schemas.openxmlformats.org/officeDocument/2006/relationships/notesSlide" Target="/ppt/notesSlides/notesSlide12.xml" Id="Rb693b2c0b7cb47a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MAE</c:v>
          </c:tx>
          <c:spPr>
            <a:solidFill xmlns:a="http://schemas.openxmlformats.org/drawingml/2006/main">
              <a:srgbClr val="2C6E9B"/>
            </a:solidFill>
          </c:spPr>
          <c:dPt>
            <c:idx val="4"/>
            <c:invertIfNegative val="0"/>
            <c:spPr>
              <a:solidFill xmlns:a="http://schemas.openxmlformats.org/drawingml/2006/main">
                <a:srgbClr val="F5B7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A9D8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E76F51"/>
              </a:solidFill>
            </c:spPr>
          </c:dPt>
          <c:cat>
            <c:strLit>
              <c:ptCount val="7"/>
              <c:pt idx="0">
                <c:v>Previous block</c:v>
              </c:pt>
              <c:pt idx="1">
                <c:v>Previous day</c:v>
              </c:pt>
              <c:pt idx="2">
                <c:v>Simple linear</c:v>
              </c:pt>
              <c:pt idx="3">
                <c:v>Multiple linear</c:v>
              </c:pt>
              <c:pt idx="4">
                <c:v>Previous week</c:v>
              </c:pt>
              <c:pt idx="5">
                <c:v>Ridge</c:v>
              </c:pt>
              <c:pt idx="6">
                <c:v>4-week mean</c:v>
              </c:pt>
            </c:strLit>
          </c:cat>
          <c:val>
            <c:numLit>
              <c:formatCode>General</c:formatCode>
              <c:ptCount val="7"/>
              <c:pt idx="0">
                <c:v>47.6</c:v>
              </c:pt>
              <c:pt idx="1">
                <c:v>21.9</c:v>
              </c:pt>
              <c:pt idx="2">
                <c:v>16.99</c:v>
              </c:pt>
              <c:pt idx="3">
                <c:v>16.55</c:v>
              </c:pt>
              <c:pt idx="4">
                <c:v>16.39</c:v>
              </c:pt>
              <c:pt idx="5">
                <c:v>14.97</c:v>
              </c:pt>
              <c:pt idx="6">
                <c:v>14.88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62635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1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MAE (pickup / zone–block)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1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Previous week</c:v>
          </c:tx>
          <c:spPr>
            <a:solidFill xmlns:a="http://schemas.openxmlformats.org/drawingml/2006/main">
              <a:srgbClr val="F5B700"/>
            </a:solidFill>
          </c:spPr>
          <c:cat>
            <c:strLit>
              <c:ptCount val="3"/>
              <c:pt idx="0">
                <c:v>Low</c:v>
              </c:pt>
              <c:pt idx="1">
                <c:v>Medium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1.04</c:v>
              </c:pt>
              <c:pt idx="1">
                <c:v>3.88</c:v>
              </c:pt>
              <c:pt idx="2">
                <c:v>44.25</c:v>
              </c:pt>
            </c:numLit>
          </c:val>
        </c:ser>
        <c:ser>
          <c:idx val="1"/>
          <c:order val="1"/>
          <c:tx>
            <c:v>Ridge</c:v>
          </c:tx>
          <c:spPr>
            <a:solidFill xmlns:a="http://schemas.openxmlformats.org/drawingml/2006/main">
              <a:srgbClr val="2A9D8F"/>
            </a:solidFill>
          </c:spPr>
          <c:cat>
            <c:strLit>
              <c:ptCount val="3"/>
              <c:pt idx="0">
                <c:v>Low</c:v>
              </c:pt>
              <c:pt idx="1">
                <c:v>Medium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1.82</c:v>
              </c:pt>
              <c:pt idx="1">
                <c:v>4.65</c:v>
              </c:pt>
              <c:pt idx="2">
                <c:v>38.44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62635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1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1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MAE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62635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Final MAE</c:v>
          </c:tx>
          <c:spPr>
            <a:solidFill xmlns:a="http://schemas.openxmlformats.org/drawingml/2006/main">
              <a:srgbClr val="2C6E9B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5B70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76F51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A9D8F"/>
              </a:solidFill>
            </c:spPr>
          </c:dPt>
          <c:cat>
            <c:strLit>
              <c:ptCount val="5"/>
              <c:pt idx="0">
                <c:v>Previous block</c:v>
              </c:pt>
              <c:pt idx="1">
                <c:v>Previous day</c:v>
              </c:pt>
              <c:pt idx="2">
                <c:v>Previous week</c:v>
              </c:pt>
              <c:pt idx="3">
                <c:v>4-week mean</c:v>
              </c:pt>
              <c:pt idx="4">
                <c:v>Ridge</c:v>
              </c:pt>
            </c:strLit>
          </c:cat>
          <c:val>
            <c:numLit>
              <c:formatCode>General</c:formatCode>
              <c:ptCount val="5"/>
              <c:pt idx="0">
                <c:v>45.45</c:v>
              </c:pt>
              <c:pt idx="1">
                <c:v>21.99</c:v>
              </c:pt>
              <c:pt idx="2">
                <c:v>16.22</c:v>
              </c:pt>
              <c:pt idx="3">
                <c:v>14.64</c:v>
              </c:pt>
              <c:pt idx="4">
                <c:v>14.17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62635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1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MAE (pickup / zone–block)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1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Previous week</c:v>
          </c:tx>
          <c:spPr>
            <a:ln xmlns:a="http://schemas.openxmlformats.org/drawingml/2006/main" w="38100">
              <a:solidFill>
                <a:srgbClr val="F5B700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F5B700"/>
              </a:solidFill>
            </c:spPr>
          </c:marker>
          <c:cat>
            <c:strLit>
              <c:ptCount val="5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</c:strLit>
          </c:cat>
          <c:val>
            <c:numLit>
              <c:formatCode>General</c:formatCode>
              <c:ptCount val="5"/>
              <c:pt idx="0">
                <c:v>19.58</c:v>
              </c:pt>
              <c:pt idx="1">
                <c:v>17.33</c:v>
              </c:pt>
              <c:pt idx="2">
                <c:v>15.34</c:v>
              </c:pt>
              <c:pt idx="3">
                <c:v>12.02</c:v>
              </c:pt>
              <c:pt idx="4">
                <c:v>16.79</c:v>
              </c:pt>
            </c:numLit>
          </c:val>
          <c:smooth val="0"/>
        </c:ser>
        <c:ser>
          <c:idx val="1"/>
          <c:order val="1"/>
          <c:tx>
            <c:v>4-week mean</c:v>
          </c:tx>
          <c:spPr>
            <a:ln xmlns:a="http://schemas.openxmlformats.org/drawingml/2006/main" w="28575">
              <a:solidFill>
                <a:srgbClr val="E76F51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E76F51"/>
              </a:solidFill>
            </c:spPr>
          </c:marker>
          <c:cat>
            <c:strLit>
              <c:ptCount val="5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</c:strLit>
          </c:cat>
          <c:val>
            <c:numLit>
              <c:formatCode>General</c:formatCode>
              <c:ptCount val="5"/>
              <c:pt idx="0">
                <c:v>21.89</c:v>
              </c:pt>
              <c:pt idx="1">
                <c:v>13.77</c:v>
              </c:pt>
              <c:pt idx="2">
                <c:v>12.89</c:v>
              </c:pt>
              <c:pt idx="3">
                <c:v>11.46</c:v>
              </c:pt>
              <c:pt idx="4">
                <c:v>13.02</c:v>
              </c:pt>
            </c:numLit>
          </c:val>
          <c:smooth val="0"/>
        </c:ser>
        <c:ser>
          <c:idx val="2"/>
          <c:order val="2"/>
          <c:tx>
            <c:v>Ridge</c:v>
          </c:tx>
          <c:spPr>
            <a:ln xmlns:a="http://schemas.openxmlformats.org/drawingml/2006/main" w="28575">
              <a:solidFill>
                <a:srgbClr val="2A9D8F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2A9D8F"/>
              </a:solidFill>
            </c:spPr>
          </c:marker>
          <c:cat>
            <c:strLit>
              <c:ptCount val="5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</c:strLit>
          </c:cat>
          <c:val>
            <c:numLit>
              <c:formatCode>General</c:formatCode>
              <c:ptCount val="5"/>
              <c:pt idx="0">
                <c:v>17.87</c:v>
              </c:pt>
              <c:pt idx="1">
                <c:v>14.13</c:v>
              </c:pt>
              <c:pt idx="2">
                <c:v>13.81</c:v>
              </c:pt>
              <c:pt idx="3">
                <c:v>11.72</c:v>
              </c:pt>
              <c:pt idx="4">
                <c:v>13.27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1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1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MAE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4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62635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5C1D3-7D32-4E9B-A4FA-6CDEC9F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NYC TLC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CC092-8B3B-40ED-9A05-B3F6C1B1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Dự báo lượt đón Yellow Taxi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 zone và block 4 giờ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FAAC7-3E97-4C6B-BEE0-DA6E6347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AF2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DCEAF2"/>
                </a:solidFill>
                <a:latin typeface="Calibri"/>
                <a:ea typeface="Calibri"/>
                <a:cs typeface="Calibri"/>
              </a:rPr>
              <a:t>Đồ án môn Predictive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4126B-8197-496F-9E77-27C00D3C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Development 2024–2025  |  Final test 01–05/2026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2CA4E-81D7-4379-9054-4D5BCE4B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Realized pickup volume</a:t>
            </a:r>
          </a:p>
        </p:txBody>
      </p:sp>
    </p:spTree>
    <p:extLst>
      <p:ext uri="{BB962C8B-B14F-4D97-AF65-F5344CB8AC3E}">
        <p14:creationId xmlns:p14="http://schemas.microsoft.com/office/powerpoint/2010/main" val="1617587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00576-4ABF-402F-AEA8-E74640EF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Bài toán dự báo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952F5-A484-49AC-951E-FA28F5BD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34D3F-6961-4AE7-A69A-8FF1A501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D697E-76A4-414C-BFAF-814F17DD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Quyết định cần hỗ trợ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02D54-07A4-469E-89E6-80E62408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Ưu tiên các zone–block cần demand review trước khi block bắt đầu. Mô hình không tự phân xe và không tối ưu dispatch.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0" y="1257300"/>
          <a:ext xmlns:a="http://schemas.openxmlformats.org/drawingml/2006/main" cx="5429250" cy="3829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3429000"/>
              </a:tblGrid>
              <a:tr h="638175">
                <a:tc>
                  <a:txBody>
                    <a:bodyPr/>
                    <a:lstStyle/>
                    <a:p>
                      <a:r>
                        <a:t>Thành phần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Định nghĩa đã khóa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t>Observation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Pickup zone × block 4 giờ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Số pickup thực tế trong block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t>Prediction 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Ngay trước block bắt đầu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t>Primary 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t>Primary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Cùng zone–block tuần trước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DE4B8-08F0-4BE2-BC42-41429A84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Câu hỏi nghiên cứu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97AB0-E2F4-4819-9B12-C2C6D7E4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Calendar và pickup history đã hoàn tất có dự báo block kế tiếp tốt hơn seasonal naive hay không?</a:t>
            </a:r>
          </a:p>
        </p:txBody>
      </p:sp>
    </p:spTree>
    <p:extLst>
      <p:ext uri="{BB962C8B-B14F-4D97-AF65-F5344CB8AC3E}">
        <p14:creationId xmlns:p14="http://schemas.microsoft.com/office/powerpoint/2010/main" val="988315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3D04F-BFFD-495B-B1B8-9FC70F4C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Dữ liệu và quy trình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926F0-645F-47C5-887E-C189ED2D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D8C46-3E7C-4B15-97EF-28F1E4E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8AC51-F051-4DB5-8662-F980818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108,9 triệu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6CA20-B67B-4BEE-8684-76E93ED6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raw records · 29 tháng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7CC80-DB76-49C0-B466-C5615812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858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770F8-5574-4251-9C55-F09B93D8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47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eligible taxi zones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DC33F-3BF0-48EA-B927-266C2E04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858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A9D8F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4 giờ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2D2E5-A770-48CD-B3EC-9DE4B1DC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47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mỗi prediction 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C2F45-16AF-4B6C-8206-EBECC74C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858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5 tháng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96DB5-C104-4448-8DEC-3C92DEE9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478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final test giữ kín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647700" y="2724150"/>
          <a:ext xmlns:a="http://schemas.openxmlformats.org/drawingml/2006/main" cx="10953750" cy="1981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2667000"/>
                <a:gridCol w="2762250"/>
                <a:gridCol w="3143250"/>
              </a:tblGrid>
              <a:tr h="660400">
                <a:tc>
                  <a:txBody>
                    <a:bodyPr/>
                    <a:lstStyle/>
                    <a:p>
                      <a:r>
                        <a:t>Tập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Giai đoạn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Mục đích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Quy mô panel</a:t>
                      </a:r>
                    </a:p>
                  </a:txBody>
                  <a:tcPr marL="91440" marR="91440" marT="45720" marB="45720"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t>Development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01/2024–12/2025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Audit, EDA, feature, model selection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1.144.746 zone–blocks</a:t>
                      </a:r>
                    </a:p>
                  </a:txBody>
                  <a:tcPr marL="91440" marR="91440" marT="45720" marB="45720"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t>Final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01/2026–05/2026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Frozen evaluation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236.466 zone–blocks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B29E0-6907-4076-B8C4-C0449288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Raw trip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32517-6351-47A6-9043-6A695AAE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86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Cleaning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30DEC-7625-4152-B2D1-B8588DA1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86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Balanced panel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2118E-2667-48E2-ACC2-37A0F967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863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Lag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76713-3F2A-418A-AFC5-5A986369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286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Rolling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1679D-10A8-49C2-B5F6-D33698C9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Mỗi bước có verifier độc lập và output machine-readable</a:t>
            </a:r>
          </a:p>
        </p:txBody>
      </p:sp>
    </p:spTree>
    <p:extLst>
      <p:ext uri="{BB962C8B-B14F-4D97-AF65-F5344CB8AC3E}">
        <p14:creationId xmlns:p14="http://schemas.microsoft.com/office/powerpoint/2010/main" val="195068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4505D-7109-4FEF-A657-1E216771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Data-quality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62671-F9A0-4E2E-84F2-5A76949A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49182-C90B-487D-8ED7-C9E047F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44989-6161-47D3-98B5-12FC880F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Cleaning chỉ bảo vệ định nghĩa pickup target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76200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1619250"/>
                <a:gridCol w="2667000"/>
              </a:tblGrid>
              <a:tr h="557893">
                <a:tc>
                  <a:txBody>
                    <a:bodyPr/>
                    <a:lstStyle/>
                    <a:p>
                      <a:r>
                        <a:t>Vấn đề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Xử lý cho target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Exact duplicate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Bỏ bản trùng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Pickup time ngoài file-month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Loại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Pickup bucket 264/265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249.244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Loại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Duration không dương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559.814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Giữ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Distance không dương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2.179.263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Giữ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Fare âm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3.579.644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Giữ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2B25C-C6E9-4AA9-9DDF-4C2CFCAC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89.642.441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C9247-457C-416E-BBC2-772EC3A6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clean development pickups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800E7-33E4-48BB-81D0-CDFFBE00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2A9D8F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99,72%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9ED0B-1662-4EDA-B368-D3863372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raw rows còn đủ điều kiện</a:t>
            </a:r>
          </a:p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trước deduplication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CD59E-819F-4503-9010-6FD39E86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8637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Fare, distance và duration không quyết định một pickup có tồn tại trong target hay không.</a:t>
            </a:r>
          </a:p>
        </p:txBody>
      </p:sp>
    </p:spTree>
    <p:extLst>
      <p:ext uri="{BB962C8B-B14F-4D97-AF65-F5344CB8AC3E}">
        <p14:creationId xmlns:p14="http://schemas.microsoft.com/office/powerpoint/2010/main" val="1990224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90F98-DE54-47CA-89AD-73DB5E30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EDA xác nhận tín hiệu dự báo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A80BB-5080-4A6F-B6C2-B67D7410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109D8-91C4-4427-9B26-50C29881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ec560bdb144c5"/>
          <a:stretch xmlns:a="http://schemas.openxmlformats.org/drawingml/2006/main"/>
        </p:blipFill>
        <p:spPr>
          <a:xfrm xmlns:a="http://schemas.openxmlformats.org/drawingml/2006/main">
            <a:off x="457200" y="2082800"/>
            <a:ext cx="7620000" cy="292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E19B9-DE7E-4E16-AD5F-A8755E2E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0,9967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63A12-7712-4F68-8651-422B9243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correlation giữa hai</a:t>
            </a:r>
          </a:p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time-of-week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07A0F-DD1A-4740-BA19-D8AC78F3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2A9D8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60,01%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B56F5-CA4F-426C-A94C-DE68B391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0047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pickup nằm trong</a:t>
            </a:r>
          </a:p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top 20 zones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1A2D9-77EC-43A3-A160-AB388E90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0,918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535DF-0AFA-444C-9EE5-BFABB578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previous-week correlation</a:t>
            </a:r>
          </a:p>
          <a:p xmlns:a="http://schemas.openxmlformats.org/drawingml/2006/main">
            <a:pPr algn="r">
              <a:defRPr sz="135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sau khi center theo zone</a:t>
            </a:r>
          </a:p>
        </p:txBody>
      </p:sp>
    </p:spTree>
    <p:extLst>
      <p:ext uri="{BB962C8B-B14F-4D97-AF65-F5344CB8AC3E}">
        <p14:creationId xmlns:p14="http://schemas.microsoft.com/office/powerpoint/2010/main" val="1970382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8642E-18C4-476D-9269-66146FFE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Validation theo thời gian và leakage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9E9B6-19B5-4597-8DE5-AA3B455C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A2C3F-66D6-4645-BBBA-A841A3B7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295400"/>
          <a:ext xmlns:a="http://schemas.openxmlformats.org/drawingml/2006/main" cx="72390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2286000"/>
                <a:gridCol w="2190750"/>
                <a:gridCol w="1714500"/>
              </a:tblGrid>
              <a:tr h="647700">
                <a:tc>
                  <a:txBody>
                    <a:bodyPr/>
                    <a:lstStyle/>
                    <a:p>
                      <a:r>
                        <a:t>Fold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Train đến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Rows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12/2024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01–03/2025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140.940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03/2025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04–06/2025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142.506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06/2025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07–09/2025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144.072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09/2025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10–12/2025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144.072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9B586-1E0A-4697-9338-5C54D171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Không random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D2FD4-5804-4560-93BF-711E78F5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2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Lag luôn nằm trước target block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Rolling window được shift trước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Encoder và scaler fit trên train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Mọi model dùng cùng test rows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Final test không chọn feature hoặc 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8DD24-5EA4-42D2-9095-0834BA9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C6E9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C6E9B"/>
                </a:solidFill>
                <a:latin typeface="Calibri"/>
                <a:ea typeface="Calibri"/>
                <a:cs typeface="Calibri"/>
              </a:rPr>
              <a:t>571.590 validation rows · 4 quarters phủ trọn năm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BA76C-25B5-4DFA-A503-F6A10015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Leakage audit: 34/34 checks</a:t>
            </a:r>
          </a:p>
        </p:txBody>
      </p:sp>
    </p:spTree>
    <p:extLst>
      <p:ext uri="{BB962C8B-B14F-4D97-AF65-F5344CB8AC3E}">
        <p14:creationId xmlns:p14="http://schemas.microsoft.com/office/powerpoint/2010/main" val="156762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11D41-7808-4DDD-ACC3-39E9C300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Development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E8425-2A64-4471-AE5D-5DBE0460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27661-6EDA-42F5-86F9-A4DEA0A0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" y="1219200"/>
          <a:ext xmlns:a="http://schemas.openxmlformats.org/drawingml/2006/main" cx="78105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06ad79dcef4f9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9E61E-6228-4B80-AAC2-890FB59E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62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4-week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4EAA9-020E-47C2-B526-2C45E4D4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431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MAE thấp nhất: 14,88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1E517-9DA5-4A21-841D-819795CB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A9D8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Ridge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8E17F-E50F-41DB-8ECA-23EA5D6A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RMSE thấp nhất: 45,72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EF8E7-4678-41AC-9606-6D109156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Previous week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81732-79BF-4D4E-80DB-0D1740E8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Formal fallback: 16,39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40514-ABDF-454A-990A-093441CF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619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Mean của bốn rolling folds</a:t>
            </a:r>
          </a:p>
        </p:txBody>
      </p:sp>
    </p:spTree>
    <p:extLst>
      <p:ext uri="{BB962C8B-B14F-4D97-AF65-F5344CB8AC3E}">
        <p14:creationId xmlns:p14="http://schemas.microsoft.com/office/powerpoint/2010/main" val="1444152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E485C-1A47-4194-BB2A-D73676D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Aggregate gain che giấu sparse-zone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DAD97-AA6E-4A1D-AB73-09553DA0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CE16D-36C7-4317-A785-C4C792FC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1257300"/>
          <a:ext xmlns:a="http://schemas.openxmlformats.org/drawingml/2006/main" cx="7810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5b658a475f4dc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CD138-4265-4E36-962B-DF6CFA4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2A9D8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Ridge giảm High-tier MAE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14A18-704C-40C1-B97F-F25A144B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2A9D8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13,13%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117D0-76FD-4E33-9868-DE15506E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Nhưng Low-tier MAE tăng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B8DB8-4476-48C7-A760-BE8B5805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74,45%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EE566-4831-4439-B31B-CD4D9130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Ridge không đạt segment gate</a:t>
            </a:r>
          </a:p>
        </p:txBody>
      </p:sp>
    </p:spTree>
    <p:extLst>
      <p:ext uri="{BB962C8B-B14F-4D97-AF65-F5344CB8AC3E}">
        <p14:creationId xmlns:p14="http://schemas.microsoft.com/office/powerpoint/2010/main" val="1349075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B8D9E-6B1F-43CE-B6A5-46CE6587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Quyết định trước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D4FEF-CA29-4327-BE14-8BE2E4F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EA64D-2AC0-405E-A522-43112A1F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35CD8-F9B2-4D76-A648-DEBE8561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Selection rule ưu tiên tính ổn định theo segment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2724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2571750"/>
                <a:gridCol w="2857500"/>
                <a:gridCol w="2952750"/>
              </a:tblGrid>
              <a:tr h="681038">
                <a:tc>
                  <a:txBody>
                    <a:bodyPr/>
                    <a:lstStyle/>
                    <a:p>
                      <a:r>
                        <a:t>Phương pháp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Vai trò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Development MAE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Quyết định</a:t>
                      </a:r>
                    </a:p>
                  </a:txBody>
                  <a:tcPr marL="91440" marR="91440" marT="45720" marB="45720"/>
                </a:tc>
              </a:tr>
              <a:tr h="681038">
                <a:tc>
                  <a:txBody>
                    <a:bodyPr/>
                    <a:lstStyle/>
                    <a:p>
                      <a:r>
                        <a:t>Previous week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Primary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16,39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Formal selected</a:t>
                      </a:r>
                    </a:p>
                  </a:txBody>
                  <a:tcPr marL="91440" marR="91440" marT="45720" marB="45720">
                    <a:solidFill>
                      <a:srgbClr val="FFF1B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t>4-week mean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Secondary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14,88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Empirical winner</a:t>
                      </a:r>
                    </a:p>
                  </a:txBody>
                  <a:tcPr marL="91440" marR="91440" marT="45720" marB="45720">
                    <a:solidFill>
                      <a:srgbClr val="FADBD3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t>Ridge α=1000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Regression candidate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14,97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Không qua Low-tier gate</a:t>
                      </a:r>
                    </a:p>
                  </a:txBody>
                  <a:tcPr marL="91440" marR="91440" marT="45720" marB="45720">
                    <a:solidFill>
                      <a:srgbClr val="DDEF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BA676-14B6-49C1-8E80-09544E9B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Protocol limitation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1C11C-81BC-4868-A1C1-2A8D8B6B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14925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Rule ban đầu không cho secondary baseline thay formal fallback. Đồ án công bố giới hạn này thay vì sửa rule sau khi xem kết quả.</a:t>
            </a:r>
          </a:p>
        </p:txBody>
      </p:sp>
    </p:spTree>
    <p:extLst>
      <p:ext uri="{BB962C8B-B14F-4D97-AF65-F5344CB8AC3E}">
        <p14:creationId xmlns:p14="http://schemas.microsoft.com/office/powerpoint/2010/main" val="859653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34B01-27EF-4858-99D6-A067740D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Frozen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4D67E-EDD2-4292-A6E9-497A4CFD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96E9E-1988-4E8C-B1C3-064BE740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95300" y="1219200"/>
          <a:ext xmlns:a="http://schemas.openxmlformats.org/drawingml/2006/main" cx="7620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d230bc60e745d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EE2B7-1883-4C8E-8B88-276CAB65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28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Formal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8EEFF-6681-42A2-99B0-D4962DC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MAE 16,22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91F6B-CDE5-43E9-A3BF-B764FBA3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982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WAPE 20,22%</a:t>
            </a:r>
          </a:p>
          <a:p xmlns:a="http://schemas.openxmlformats.org/drawingml/2006/main">
            <a:pPr algn="r">
              <a:defRPr sz="1650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R² 0,935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70FB4-E94D-478B-BD3D-72C25500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814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A9D8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Empirical lowest 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45DC7-2341-4D2D-B0E7-D76F06E2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2A9D8F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Ridge 14,17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6958A-3441-44F0-B0E5-222DBC88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Frozen decision không đổi</a:t>
            </a:r>
          </a:p>
        </p:txBody>
      </p:sp>
    </p:spTree>
    <p:extLst>
      <p:ext uri="{BB962C8B-B14F-4D97-AF65-F5344CB8AC3E}">
        <p14:creationId xmlns:p14="http://schemas.microsoft.com/office/powerpoint/2010/main" val="12784699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8BD63-7624-4E5D-8FBF-1147A599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Sai số thay đổi theo tháng và các shock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A86C4-B68C-435A-AAC0-CED92327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33749-902E-439C-84F9-925EC29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14350" y="1285875"/>
          <a:ext xmlns:a="http://schemas.openxmlformats.org/drawingml/2006/main" cx="7905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9b921d4abf43a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87487-AD37-42E1-A007-4F471BCB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954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Worst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B2BB4-F576-4036-A8D9-B5AB0776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02/03/2026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160A1-DCE8-4D57-AB9A-8377FD05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Actual 113.243</a:t>
            </a:r>
          </a:p>
          <a:p xmlns:a="http://schemas.openxmlformats.org/drawingml/2006/main">
            <a:pPr algn="r">
              <a:defRPr sz="1650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Previous-week 26.000</a:t>
            </a:r>
          </a:p>
          <a:p xmlns:a="http://schemas.openxmlformats.org/drawingml/2006/main">
            <a:pPr algn="r">
              <a:defRPr sz="1650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MAE 58,47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DEB26-19E5-4FDF-A3D0-C11FF9D7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Một shock có thể bị sao chép sang đúng tuần kế tiếp và tạo lỗi theo hướng ngược lại.</a:t>
            </a:r>
          </a:p>
        </p:txBody>
      </p:sp>
    </p:spTree>
    <p:extLst>
      <p:ext uri="{BB962C8B-B14F-4D97-AF65-F5344CB8AC3E}">
        <p14:creationId xmlns:p14="http://schemas.microsoft.com/office/powerpoint/2010/main" val="4043483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4A798-5D10-4018-879B-6A4CCEB8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D665F-5AFD-45CF-86CE-9874BE65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B7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07EA6-9099-4D10-BB43-AE7D8138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7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C6B77"/>
                </a:solidFill>
                <a:latin typeface="Calibri"/>
                <a:ea typeface="Calibri"/>
                <a:cs typeface="Calibri"/>
              </a:rPr>
              <a:t>NYC TLC Yellow Taxi · Predictive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40085-6770-42BA-A61C-7A57D877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Historical patterns có giá trị dự báo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797FD-AF09-4B33-8E72-86E9436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Previous-week tạo một benchmark mạnh và dễ giải thích. Final WAPE 20,22% cho thấy dự báo phù hợp làm tín hiệu demand review, chưa đủ cho automated dispatch.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DF827-1CC2-48B1-BFAA-B2C1000A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858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A9D8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Model complexity không bảo đảm lợi ích đồng đều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467BB-736F-47A0-84D0-F8BE5F33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Ridge giảm lỗi ở high-volume zones nhưng tăng lỗi ở sparse zones. Segment evaluation đã thay đổi quyết định model 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16339-CA33-4AB2-ACE7-E3F1CC0B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Giới hạn cần giữ khi trình bày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6D21D-8F72-4DFF-9A15-CBDDEF51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575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Public files có độ trễ công bố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575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Target không đo latent demand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575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Không có weather hoặc event data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575">
                <a:solidFill>
                  <a:srgbClr val="16263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62635"/>
                </a:solidFill>
                <a:latin typeface="Calibri"/>
                <a:ea typeface="Calibri"/>
                <a:cs typeface="Calibri"/>
              </a:rPr>
              <a:t>Kết quả không chứng minh lợi nhuận hay causality</a:t>
            </a:r>
          </a:p>
        </p:txBody>
      </p:sp>
    </p:spTree>
    <p:extLst>
      <p:ext uri="{BB962C8B-B14F-4D97-AF65-F5344CB8AC3E}">
        <p14:creationId xmlns:p14="http://schemas.microsoft.com/office/powerpoint/2010/main" val="1168440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2026-09-20T08:52:15.7410000Z</dcterms:created>
  <dcterms:modified xsi:type="dcterms:W3CDTF">2026-09-20T08:52:15.7410000Z</dcterms:modified>
</coreProperties>
</file>